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ba4cfc90bd4ba5" /><Relationship Type="http://schemas.openxmlformats.org/officeDocument/2006/relationships/extended-properties" Target="/docProps/app.xml" Id="Rdb910ed933e6406c" /><Relationship Type="http://schemas.openxmlformats.org/officeDocument/2006/relationships/officeDocument" Target="/ppt/presentation.xml" Id="R046c3312ac5040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7484add48a45d1"/>
  </p:sldMasterIdLst>
  <p:notesMasterIdLst>
    <p:notesMasterId xmlns:r="http://schemas.openxmlformats.org/officeDocument/2006/relationships" r:id="Red47257239d74748"/>
  </p:notesMasterIdLst>
  <p:sldIdLst>
    <p:sldId xmlns:r="http://schemas.openxmlformats.org/officeDocument/2006/relationships" id="256" r:id="Rab0165df1ab54336"/>
    <p:sldId xmlns:r="http://schemas.openxmlformats.org/officeDocument/2006/relationships" id="257" r:id="Rbbf5a542e67048f3"/>
    <p:sldId xmlns:r="http://schemas.openxmlformats.org/officeDocument/2006/relationships" id="258" r:id="R0ded0e69e0de49ac"/>
    <p:sldId xmlns:r="http://schemas.openxmlformats.org/officeDocument/2006/relationships" id="259" r:id="Rcdb61c0ccce34a29"/>
    <p:sldId xmlns:r="http://schemas.openxmlformats.org/officeDocument/2006/relationships" id="260" r:id="R7b54f9cdab224618"/>
    <p:sldId xmlns:r="http://schemas.openxmlformats.org/officeDocument/2006/relationships" id="261" r:id="R8702d5c6403140b9"/>
    <p:sldId xmlns:r="http://schemas.openxmlformats.org/officeDocument/2006/relationships" id="262" r:id="R4bf7fce3cc984a6b"/>
    <p:sldId xmlns:r="http://schemas.openxmlformats.org/officeDocument/2006/relationships" id="263" r:id="R28eba396ff26406e"/>
    <p:sldId xmlns:r="http://schemas.openxmlformats.org/officeDocument/2006/relationships" id="264" r:id="R7270fb09529746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b9790663f345b7" /><Relationship Type="http://schemas.openxmlformats.org/officeDocument/2006/relationships/slideMaster" Target="/ppt/slideMasters/slideMaster1.xml" Id="R2a7484add48a45d1" /><Relationship Type="http://schemas.openxmlformats.org/officeDocument/2006/relationships/notesMaster" Target="/ppt/notesMasters/notesMaster1.xml" Id="Red47257239d74748" /><Relationship Type="http://schemas.openxmlformats.org/officeDocument/2006/relationships/presProps" Target="/ppt/presProps.xml" Id="Rf8dbc68cc6504518" /><Relationship Type="http://schemas.openxmlformats.org/officeDocument/2006/relationships/tableStyles" Target="/ppt/tableStyles.xml" Id="Rba008bd9024d4797" /><Relationship Type="http://schemas.openxmlformats.org/officeDocument/2006/relationships/slide" Target="/ppt/slides/slide1.xml" Id="Rab0165df1ab54336" /><Relationship Type="http://schemas.openxmlformats.org/officeDocument/2006/relationships/slide" Target="/ppt/slides/slide2.xml" Id="Rbbf5a542e67048f3" /><Relationship Type="http://schemas.openxmlformats.org/officeDocument/2006/relationships/slide" Target="/ppt/slides/slide3.xml" Id="R0ded0e69e0de49ac" /><Relationship Type="http://schemas.openxmlformats.org/officeDocument/2006/relationships/slide" Target="/ppt/slides/slide4.xml" Id="Rcdb61c0ccce34a29" /><Relationship Type="http://schemas.openxmlformats.org/officeDocument/2006/relationships/slide" Target="/ppt/slides/slide5.xml" Id="R7b54f9cdab224618" /><Relationship Type="http://schemas.openxmlformats.org/officeDocument/2006/relationships/slide" Target="/ppt/slides/slide6.xml" Id="R8702d5c6403140b9" /><Relationship Type="http://schemas.openxmlformats.org/officeDocument/2006/relationships/slide" Target="/ppt/slides/slide7.xml" Id="R4bf7fce3cc984a6b" /><Relationship Type="http://schemas.openxmlformats.org/officeDocument/2006/relationships/slide" Target="/ppt/slides/slide8.xml" Id="R28eba396ff26406e" /><Relationship Type="http://schemas.openxmlformats.org/officeDocument/2006/relationships/slide" Target="/ppt/slides/slide9.xml" Id="R7270fb09529746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6ebf01385548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b252915618405a" /><Relationship Type="http://schemas.openxmlformats.org/officeDocument/2006/relationships/notesMaster" Target="/ppt/notesMasters/notesMaster1.xml" Id="R32730408e16946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24c363e2f94e71" /><Relationship Type="http://schemas.openxmlformats.org/officeDocument/2006/relationships/notesMaster" Target="/ppt/notesMasters/notesMaster1.xml" Id="R1c676c899b2040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04555eb24f43fc" /><Relationship Type="http://schemas.openxmlformats.org/officeDocument/2006/relationships/notesMaster" Target="/ppt/notesMasters/notesMaster1.xml" Id="R2e56353c89a740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7586fdb747475c" /><Relationship Type="http://schemas.openxmlformats.org/officeDocument/2006/relationships/notesMaster" Target="/ppt/notesMasters/notesMaster1.xml" Id="R1bbd9bce4a5c49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75e54653114e6f" /><Relationship Type="http://schemas.openxmlformats.org/officeDocument/2006/relationships/notesMaster" Target="/ppt/notesMasters/notesMaster1.xml" Id="R696e621897b944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f4987a8e2a4252" /><Relationship Type="http://schemas.openxmlformats.org/officeDocument/2006/relationships/notesMaster" Target="/ppt/notesMasters/notesMaster1.xml" Id="Rb0b33618507a44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8bc840d0d04e64" /><Relationship Type="http://schemas.openxmlformats.org/officeDocument/2006/relationships/notesMaster" Target="/ppt/notesMasters/notesMaster1.xml" Id="R20c8a3ee4f1f46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f534366023462c" /><Relationship Type="http://schemas.openxmlformats.org/officeDocument/2006/relationships/notesMaster" Target="/ppt/notesMasters/notesMaster1.xml" Id="Rfa4c0cc0dcf747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1a773c3b434c23" /><Relationship Type="http://schemas.openxmlformats.org/officeDocument/2006/relationships/notesMaster" Target="/ppt/notesMasters/notesMaster1.xml" Id="Rb31c4a801da84c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https://i4c.in/hackathon-2026/</a:t>
            </a:r>
          </a:p>
          <a:p xmlns:a="http://schemas.openxmlformats.org/drawingml/2006/main">
            <a:r>
              <a:t>- https://github.com/FaisalTabrez/Semicon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https://i4c.in/hackathon-2026/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https://arxiv.org/abs/2204.04676</a:t>
            </a:r>
          </a:p>
          <a:p xmlns:a="http://schemas.openxmlformats.org/drawingml/2006/main">
            <a:r>
              <a:t>- https://github.com/FaisalTabrez/Semicon/blob/main/configs/final_conditioned.yaml</a:t>
            </a:r>
          </a:p>
          <a:p xmlns:a="http://schemas.openxmlformats.org/drawingml/2006/main">
            <a:r>
              <a:t>- https://github.com/FaisalTabrez/Semicon/blob/main/src/semirestore/models/naf_sr.py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https://arxiv.org/abs/2204.04676</a:t>
            </a:r>
          </a:p>
          <a:p xmlns:a="http://schemas.openxmlformats.org/drawingml/2006/main">
            <a:r>
              <a:t>- https://github.com/FaisalTabrez/Semicon/blob/main/configs/final_conditioned.yaml</a:t>
            </a:r>
          </a:p>
          <a:p xmlns:a="http://schemas.openxmlformats.org/drawingml/2006/main">
            <a:r>
              <a:t>- https://github.com/FaisalTabrez/Semicon/blob/main/train.py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https://github.com/FaisalTabrez/Semicon/blob/main/README.md</a:t>
            </a:r>
          </a:p>
          <a:p xmlns:a="http://schemas.openxmlformats.org/drawingml/2006/main">
            <a:r>
              <a:t>- https://github.com/FaisalTabrez/Semicon/blob/main/reports/student32_ablation.md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https://github.com/FaisalTabrez/Semicon/blob/main/reports/conditioned_fp32_val_id_summary.json</a:t>
            </a:r>
          </a:p>
          <a:p xmlns:a="http://schemas.openxmlformats.org/drawingml/2006/main">
            <a:r>
              <a:t>- https://github.com/FaisalTabrez/Semicon/blob/main/reports/conditioned_fp32_val_ood_summary.json</a:t>
            </a:r>
          </a:p>
          <a:p xmlns:a="http://schemas.openxmlformats.org/drawingml/2006/main">
            <a:r>
              <a:t>- https://github.com/FaisalTabrez/Semicon/blob/main/reports/external_carinthia_evidence.md</a:t>
            </a:r>
          </a:p>
          <a:p xmlns:a="http://schemas.openxmlformats.org/drawingml/2006/main">
            <a:r>
              <a:t>- https://doi.org/10.5281/zenodo.10715190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https://github.com/FaisalTabrez/Semicon/blob/main/README.md</a:t>
            </a:r>
          </a:p>
          <a:p xmlns:a="http://schemas.openxmlformats.org/drawingml/2006/main">
            <a:r>
              <a:t>- https://github.com/FaisalTabrez/Semicon/blob/main/weights/MODEL_CARD.md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https://github.com/FaisalTabrez/Semicon</a:t>
            </a:r>
          </a:p>
          <a:p xmlns:a="http://schemas.openxmlformats.org/drawingml/2006/main">
            <a:r>
              <a:t>- https://i4c.in/hackathon-2026/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https://i4c.in/hackathon-2026/</a:t>
            </a:r>
          </a:p>
          <a:p xmlns:a="http://schemas.openxmlformats.org/drawingml/2006/main">
            <a:r>
              <a:t>- https://arxiv.org/abs/2204.04676</a:t>
            </a:r>
          </a:p>
          <a:p xmlns:a="http://schemas.openxmlformats.org/drawingml/2006/main">
            <a:r>
              <a:t>- https://arxiv.org/abs/1707.02921</a:t>
            </a:r>
          </a:p>
          <a:p xmlns:a="http://schemas.openxmlformats.org/drawingml/2006/main">
            <a:r>
              <a:t>- https://arxiv.org/abs/1801.03924</a:t>
            </a:r>
          </a:p>
          <a:p xmlns:a="http://schemas.openxmlformats.org/drawingml/2006/main">
            <a:r>
              <a:t>- https://doi.org/10.1109/TIP.2003.819861</a:t>
            </a:r>
          </a:p>
          <a:p xmlns:a="http://schemas.openxmlformats.org/drawingml/2006/main">
            <a:r>
              <a:t>- https://doi.org/10.5281/zenodo.10715190</a:t>
            </a:r>
          </a:p>
          <a:p xmlns:a="http://schemas.openxmlformats.org/drawingml/2006/main">
            <a:r>
              <a:t>- https://github.com/FaisalTabrez/Semicon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efd1fd521f40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8c1cee37fc45f0" /><Relationship Type="http://schemas.openxmlformats.org/officeDocument/2006/relationships/slideLayout" Target="/ppt/slideLayouts/slideLayout1.xml" Id="R0dc4faf5abe341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c4faf5abe341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77b6251ee450e" /><Relationship Type="http://schemas.openxmlformats.org/officeDocument/2006/relationships/notesSlide" Target="/ppt/notesSlides/notesSlide1.xml" Id="Rb1895ed9a46147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575edb8ab4449" /><Relationship Type="http://schemas.openxmlformats.org/officeDocument/2006/relationships/notesSlide" Target="/ppt/notesSlides/notesSlide2.xml" Id="R02a1c80a15e145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51424c09b4748" /><Relationship Type="http://schemas.openxmlformats.org/officeDocument/2006/relationships/notesSlide" Target="/ppt/notesSlides/notesSlide3.xml" Id="Rcac8bb97eb4948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a54e1ce304e23" /><Relationship Type="http://schemas.openxmlformats.org/officeDocument/2006/relationships/notesSlide" Target="/ppt/notesSlides/notesSlide4.xml" Id="R4528a7b215b548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c36bf4ac14003" /><Relationship Type="http://schemas.openxmlformats.org/officeDocument/2006/relationships/notesSlide" Target="/ppt/notesSlides/notesSlide5.xml" Id="R3d5ea0dba27d49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cb285ff394d4c" /><Relationship Type="http://schemas.openxmlformats.org/officeDocument/2006/relationships/image" Target="/ppt/media/image.png" Id="R52c97f8515754c35" /><Relationship Type="http://schemas.openxmlformats.org/officeDocument/2006/relationships/notesSlide" Target="/ppt/notesSlides/notesSlide6.xml" Id="R2e582087cbaa4c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3412dbe7c4a96" /><Relationship Type="http://schemas.openxmlformats.org/officeDocument/2006/relationships/notesSlide" Target="/ppt/notesSlides/notesSlide7.xml" Id="R3647aa2ad2174b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f3fa8408a4b39" /><Relationship Type="http://schemas.openxmlformats.org/officeDocument/2006/relationships/notesSlide" Target="/ppt/notesSlides/notesSlide8.xml" Id="R6e42889d5b6c4c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fe93c76c0468c" /><Relationship Type="http://schemas.openxmlformats.org/officeDocument/2006/relationships/notesSlide" Target="/ppt/notesSlides/notesSlide9.xml" Id="R1f1b9be786ea47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7CB59-D8E6-4308-A0FD-F0B54F62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C2977-27C3-4902-AAB8-6AB3DD09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KLA PS01  /  SEMICON INDIA HACKATHON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534E9-996E-476F-8973-EC3F0791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524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Mithai Warriors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6A264-B121-408F-BE6C-CAAB1E5E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74771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59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232323"/>
                </a:solidFill>
                <a:latin typeface="Arial"/>
                <a:ea typeface="Arial"/>
                <a:cs typeface="Arial"/>
              </a:rPr>
              <a:t>SemiRestore: AI restoration of degraded images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232323"/>
                </a:solidFill>
                <a:latin typeface="Arial"/>
                <a:ea typeface="Arial"/>
                <a:cs typeface="Arial"/>
              </a:rPr>
              <a:t>for semiconductor inspection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1229A6-D3AC-4752-B0CF-0152AF15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914400"/>
            <a:ext cx="2628900" cy="40005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55842-AD0C-48AE-9B48-E2839B8D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295400"/>
            <a:ext cx="190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63747-30ED-4C46-99EA-36787BE0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52650"/>
            <a:ext cx="190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grayscale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restoration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69D36-BC3D-4C4A-BE37-3B7C957D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95650"/>
            <a:ext cx="16383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83D1F-FAA4-42A3-9D45-2C39D3AB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0045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9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9F8"/>
                </a:solidFill>
                <a:latin typeface="Arial"/>
                <a:ea typeface="Arial"/>
                <a:cs typeface="Arial"/>
              </a:rPr>
              <a:t>Akhilesh Kancharla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CE9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9F8"/>
                </a:solidFill>
                <a:latin typeface="Arial"/>
                <a:ea typeface="Arial"/>
                <a:cs typeface="Arial"/>
              </a:rPr>
              <a:t>Team Leader • 3rd Year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CE9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9F8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DCE9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9F8"/>
                </a:solidFill>
                <a:latin typeface="Arial"/>
                <a:ea typeface="Arial"/>
                <a:cs typeface="Arial"/>
              </a:rPr>
              <a:t>Md. Faisal Tabrez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CE9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9F8"/>
                </a:solidFill>
                <a:latin typeface="Arial"/>
                <a:ea typeface="Arial"/>
                <a:cs typeface="Arial"/>
              </a:rPr>
              <a:t>Team Member • 3rd Year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68F43-B7A4-4B4A-82AE-FB08384C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Mahatma Gandhi Institute of Technology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B2E6A-AF70-4BD5-8B43-232CA6C1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Team leader contact  •  8688812245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875F2-2F6A-43A4-88C4-F136A287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191250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github.com/FaisalTabrez/Semicon</a:t>
            </a:r>
          </a:p>
        </p:txBody>
      </p:sp>
    </p:spTree>
    <p:extLst>
      <p:ext uri="{BB962C8B-B14F-4D97-AF65-F5344CB8AC3E}">
        <p14:creationId xmlns:p14="http://schemas.microsoft.com/office/powerpoint/2010/main" val="18091472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3193EC-4D0C-43E2-9AC5-E9A6221D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DCD90-E524-45CD-947F-1572A4BF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Degradation can hide defects before inspection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BFE33-E749-4DA8-809A-D658F054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95400"/>
            <a:ext cx="112014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B6265-F230-4B49-A0D3-BCAE96AC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CE859-6351-40A1-BCEC-8960AC3D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53340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18D62-06A2-4678-976B-07076F00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Observed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39D9A-1C5B-4596-84B0-F2424ED2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128×128 or 256×256 grayscale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speckle + Gaussian noise; raw range may exceed [0,1]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0FB0C-C755-494C-95E1-E9405012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Required 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9B68F-E66B-4637-9728-28740800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81425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2× restored float32 image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sharp structure, low noise, no artificial patterns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A5A4E-D3DC-4D1A-8562-2C60B63A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4267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D7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36F9ED-3FE8-433E-A605-E9125A5B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2323"/>
                </a:solidFill>
                <a:latin typeface="Arial"/>
                <a:ea typeface="Arial"/>
                <a:cs typeface="Arial"/>
              </a:rPr>
              <a:t>Inspection depends on fine edges and texture; smoothing can conceal the same evidence that restoration is meant to recover.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46E2E-89C9-4413-B440-79E0FB0A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430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What the solution must achieve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39E6D-98A7-44C5-8C32-2C621ABD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00300"/>
            <a:ext cx="5048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4">
              <a:spcAft>
                <a:spcPts val="16"/>
              </a:spcAft>
              <a:buChar char="•"/>
              <a:defRPr sz="1575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32323"/>
                </a:solidFill>
                <a:latin typeface="Arial"/>
                <a:ea typeface="Arial"/>
                <a:cs typeface="Arial"/>
              </a:rPr>
              <a:t>Remove speckle without clipping valid extremes.</a:t>
            </a:r>
          </a:p>
          <a:p xmlns:a="http://schemas.openxmlformats.org/drawingml/2006/main">
            <a:pPr marL="22" indent="-14">
              <a:spcAft>
                <a:spcPts val="16"/>
              </a:spcAft>
              <a:buChar char="•"/>
              <a:defRPr sz="1575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32323"/>
                </a:solidFill>
                <a:latin typeface="Arial"/>
                <a:ea typeface="Arial"/>
                <a:cs typeface="Arial"/>
              </a:rPr>
              <a:t>Reduce Gaussian noise without blurring boundaries.</a:t>
            </a:r>
          </a:p>
          <a:p xmlns:a="http://schemas.openxmlformats.org/drawingml/2006/main">
            <a:pPr marL="22" indent="-14">
              <a:spcAft>
                <a:spcPts val="16"/>
              </a:spcAft>
              <a:buChar char="•"/>
              <a:defRPr sz="1575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32323"/>
                </a:solidFill>
                <a:latin typeface="Arial"/>
                <a:ea typeface="Arial"/>
                <a:cs typeface="Arial"/>
              </a:rPr>
              <a:t>Recover 2× spatial resolution in one model.</a:t>
            </a:r>
          </a:p>
          <a:p xmlns:a="http://schemas.openxmlformats.org/drawingml/2006/main">
            <a:pPr marL="22" indent="-14">
              <a:spcAft>
                <a:spcPts val="16"/>
              </a:spcAft>
              <a:buChar char="•"/>
              <a:defRPr sz="1575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32323"/>
                </a:solidFill>
                <a:latin typeface="Arial"/>
                <a:ea typeface="Arial"/>
                <a:cs typeface="Arial"/>
              </a:rPr>
              <a:t>Generalize to unseen semiconductor sources.</a:t>
            </a:r>
          </a:p>
          <a:p xmlns:a="http://schemas.openxmlformats.org/drawingml/2006/main">
            <a:pPr marL="22" indent="-14">
              <a:buChar char="•"/>
              <a:defRPr sz="1575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32323"/>
                </a:solidFill>
                <a:latin typeface="Arial"/>
                <a:ea typeface="Arial"/>
                <a:cs typeface="Arial"/>
              </a:rPr>
              <a:t>Run fast enough for practical inspection workflows.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03CA19-9CC7-4C13-B246-03CB0C7B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57800"/>
            <a:ext cx="4953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AE9AC0-5784-41A0-922A-0A09E5C4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38775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0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3D8DFF"/>
                </a:solidFill>
                <a:latin typeface="Consolas"/>
                <a:ea typeface="Consolas"/>
                <a:cs typeface="Consolas"/>
              </a:rPr>
              <a:t>noise removal  +  2× super-resolution  +  OOD robustness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6FC418-5866-406F-B615-C99E8B18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Problem source: i4C / KLA AI-Based Restoration challenge statement.</a:t>
            </a:r>
          </a:p>
        </p:txBody>
      </p:sp>
    </p:spTree>
    <p:extLst>
      <p:ext uri="{BB962C8B-B14F-4D97-AF65-F5344CB8AC3E}">
        <p14:creationId xmlns:p14="http://schemas.microsoft.com/office/powerpoint/2010/main" val="16500853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A59CF8-8AC3-408D-A39D-1C1765DD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IDEA DESCRIPTION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F92C1-2E0E-4C22-A81C-1F3155E1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One model adapts to every degradation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1029B-0B93-46EF-B59C-7B17821E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95400"/>
            <a:ext cx="112014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80803-3957-4CF8-9DEC-9D110120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1BFC8-D40C-4857-AD14-18EB9265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55054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2D39F-155F-404C-A5CA-1B55573D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465CA-A29E-46BC-B9D9-1C1A9A62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joint restoration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24A83-F14C-4C3E-84A2-85E31B9F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A single NAF-SR predicts a clean 2× residual instead of chaining separate denoising and upscaling models.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2C9258-E19F-4C2A-9713-D3AF5CFF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5054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28C69-7B4E-4ED4-8890-F3CA2281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 stats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F5FDA-359B-4CFE-B3A0-60A2585D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146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image-conditioned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1A128B-6834-4D45-803E-5AF451F5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14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Mean, standard deviation, minimum and maximum modulate the network through zero-initialized FiLM.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5E62DE-BD9F-4DA6-A076-569B04A1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67150"/>
            <a:ext cx="55054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76F676-3EF1-40DD-9137-E24E3994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2× skip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258C34-2A9E-44DB-901B-5B42B913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conservative residual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9ED5A1-28C4-4BFA-A5E9-6EF7E27F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Bicubic carries stable low-frequency structure; the learned branch focuses on missing detail and noise correction.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107E9C-FE86-4193-9528-227DCE0E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7150"/>
            <a:ext cx="55054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EFA73B-0A5B-4719-9CF5-7FFF2025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767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8663B5-57A9-4AB9-97A0-031CEBD4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291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public-test labels used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47B31E-3489-4C6C-97AF-C2619751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29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Model selection uses only organizer training pairs, locked validation-ID and texture-held-out pseudo-OOD evidence.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A0DD26-3382-4A17-850A-DA604F6A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Core principle: adapt restoration strength to the input while keeping the output path auditable.</a:t>
            </a:r>
          </a:p>
        </p:txBody>
      </p:sp>
    </p:spTree>
    <p:extLst>
      <p:ext uri="{BB962C8B-B14F-4D97-AF65-F5344CB8AC3E}">
        <p14:creationId xmlns:p14="http://schemas.microsoft.com/office/powerpoint/2010/main" val="21139137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A5365B-F7A3-40CA-AE51-C9B3C5E3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PROPOSED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153D3-AC4A-4514-806E-4FA58C2A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71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Safe input → conditioned NAF-SR → auditable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96AA5-85A8-47D3-88B8-DDAA1241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95400"/>
            <a:ext cx="112014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BD1E8-1CC8-4C91-A354-7C73947D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94950-00A3-45A9-9DA8-042636AA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32575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84A786-C3D1-45F8-B758-B1E76299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885AA-40D0-46F1-A3F8-54128A5D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57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C50266-CC19-4BBE-BD36-28C39621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2838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48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Validate + preserve range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85B22F-7D41-4127-AD95-B2E2814B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19475"/>
            <a:ext cx="283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3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Load one-channel NumPy safely, reject invalid values, and preserve real intensity extremes before inference.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136145-0258-42E3-A360-2083C8F3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771775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4D798-07CF-4F25-8A69-AB151AD1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38350"/>
            <a:ext cx="37147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4A08C7-844E-4267-8CB4-C3165772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247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2FCF6-814E-4E0E-8E2E-34EC4969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257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211ACE-30C1-49D5-9E83-951A73FF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76550"/>
            <a:ext cx="3295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Conditioned NAF 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1F880A-6F3E-4868-A010-6E4BBFEA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19475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Width 48 encoder–decoder; residual NAF blocks adapt features using global input statistics.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2EDC35-6348-4EF5-8115-A9737149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71775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DF1FAC-5BE0-4F8C-9D7C-B58D3894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38350"/>
            <a:ext cx="32575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AB1F93-A880-4F0D-AF53-8F9586EC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47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5E5349-580C-4618-A4F0-E6031208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57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F4A5A3-429A-4E3E-874A-0B8D7FC6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76550"/>
            <a:ext cx="2838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Pixel-shuffle restore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8266C8-DE0F-4611-A8AC-E3CDFEC8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19475"/>
            <a:ext cx="283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Predict the high-resolution residual, add the bicubic skip, crop safely, then clamp once to [0,1].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4A56DC-1B19-473F-921C-B571D5D1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14850"/>
            <a:ext cx="3714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3F3972-AAE1-4314-AAB2-2D3760DA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695825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[mean, std, min, max]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3E47D-13F8-4AA7-9419-238A3361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133975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zero-initialized FiLM conditioning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D9FBA0-AC71-43E0-B1DE-2AA320B4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7690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9,111,684 parameters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E63E96-A7BF-4245-840B-8B3BD207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67690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155"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Charbonnier loss • real pairs • D4 geometry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8148EF-1487-44EB-9AB4-5D4C5543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Training: 5,000 steps, batch 16, AdamW, warm-up + cosine decay, EMA/raw checkpoint selection.</a:t>
            </a:r>
          </a:p>
        </p:txBody>
      </p:sp>
    </p:spTree>
    <p:extLst>
      <p:ext uri="{BB962C8B-B14F-4D97-AF65-F5344CB8AC3E}">
        <p14:creationId xmlns:p14="http://schemas.microsoft.com/office/powerpoint/2010/main" val="14585985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BA31FA-A9BA-496D-99A2-7AA7ADA4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INNOVATION &amp; UNIQUENESS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69360-2F6E-408A-B35B-AB0E6005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09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Only OOD-gated improvements entered the final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76481-BBAC-494D-A6A9-5CD6E693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95400"/>
            <a:ext cx="112014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59A66-7BDF-4E99-81EE-6BD4F12C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904CB-C6B2-4B0F-9965-E8597773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2857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4EF2F-D839-4CFD-A11D-39A816B1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2590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A8C6C-6636-4BEE-A8B5-E10C549D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14500"/>
            <a:ext cx="30861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15ACD-5CDE-4C8C-9E15-25621FEE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57375"/>
            <a:ext cx="2819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Isolated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0E7EF-111F-498E-BB89-B2044578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14500"/>
            <a:ext cx="29146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691FB1-5029-4C4B-8C8E-1C6D0E68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2647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Locked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F582C-0DEC-40A3-848B-40C1F862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714500"/>
            <a:ext cx="23431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789A7-D13F-4EC2-A791-B6E3F51C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857375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6AB62-8EEE-48C1-90A5-FB45284D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43150"/>
            <a:ext cx="11201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99599B-7F3D-4646-98A1-580DCA12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Texture-held-out split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B6A578-E2BD-4F30-84C4-021BA814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7175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12 clusters; entire outlying clusters held 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903092-3514-4214-AAE9-E3889067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260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2323"/>
                </a:solidFill>
                <a:latin typeface="Arial"/>
                <a:ea typeface="Arial"/>
                <a:cs typeface="Arial"/>
              </a:rPr>
              <a:t>+5.02 dB vs bicubic on pseudo-OOD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FE4895-5CDF-480D-93EE-D8E7DF22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9080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169A4E-45BE-44CC-9978-13DE9A27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71850"/>
            <a:ext cx="11201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59130A-885C-4836-8C40-6D295156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+15% fitted synthetic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9FD31B-6874-4FB3-83CC-6C4246E1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0045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train-fitted noise and speckle profile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96E51D-046A-484E-B927-263DB809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260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2323"/>
                </a:solidFill>
                <a:latin typeface="Arial"/>
                <a:ea typeface="Arial"/>
                <a:cs typeface="Arial"/>
              </a:rPr>
              <a:t>0 / 3 aggregate OOD metrics improved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45CB4B-8F7D-4412-B2A4-B10681D4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A43D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43D3D"/>
                </a:solidFill>
                <a:latin typeface="Arial"/>
                <a:ea typeface="Arial"/>
                <a:cs typeface="Arial"/>
              </a:rPr>
              <a:t>REJECT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3A9CCE-721C-460F-B93E-E5C18309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00550"/>
            <a:ext cx="11201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7F5E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F8B63C-D4CF-4F95-8A95-CD38F32D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+statistics conditioning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05B14D-F392-4021-A044-DFF1F06B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2915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FiLM from mean / std / min / max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A2A61D-4213-4D2D-89BF-11705B42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29150"/>
            <a:ext cx="260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2323"/>
                </a:solidFill>
                <a:latin typeface="Arial"/>
                <a:ea typeface="Arial"/>
                <a:cs typeface="Arial"/>
              </a:rPr>
              <a:t>PSNR +0.0071; SSIM +0.00152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12B688-D5FC-480B-B47D-EEA0753A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4820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67A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A5B"/>
                </a:solidFill>
                <a:latin typeface="Arial"/>
                <a:ea typeface="Arial"/>
                <a:cs typeface="Arial"/>
              </a:rPr>
              <a:t>KEEP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74F220-DF37-405C-816B-EAA124DD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The architecture is compact; the novelty is evidence discipline—input statistics control restoration strength, and every change must improve locked OOD evidence without material ID loss.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6957A7-1FDD-4A43-87A3-D7D2A658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A 4.11M-parameter distilled student was also rejected: +36.9% batch throughput did not offset quality and batch-1 latency misses.</a:t>
            </a:r>
          </a:p>
        </p:txBody>
      </p:sp>
    </p:spTree>
    <p:extLst>
      <p:ext uri="{BB962C8B-B14F-4D97-AF65-F5344CB8AC3E}">
        <p14:creationId xmlns:p14="http://schemas.microsoft.com/office/powerpoint/2010/main" val="7646772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EB8304-5C33-4799-AE05-27096196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58FB0-41EF-4DFA-A19F-F279C3C6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≈5 dB gains survive worst-case visual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2517B-D8C8-47BB-8FC5-7095B230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95400"/>
            <a:ext cx="112014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5671CA-BAA5-42B6-B100-1345C690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D2418-E263-4A02-8FFA-BF4F7BA3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8382000" cy="451485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97f8515754c35"/>
          <a:stretch xmlns:a="http://schemas.openxmlformats.org/drawingml/2006/main"/>
        </p:blipFill>
        <p:spPr>
          <a:xfrm xmlns:a="http://schemas.openxmlformats.org/drawingml/2006/main">
            <a:off x="1193048" y="1647825"/>
            <a:ext cx="6986505" cy="436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56C80-9B35-45F5-8D31-432E8088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335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Locked 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CB300-8415-41EB-8E75-702B9157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24100"/>
            <a:ext cx="238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3">
              <a:spcAft>
                <a:spcPts val="14"/>
              </a:spcAft>
              <a:buChar char="•"/>
              <a:defRPr sz="1425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32323"/>
                </a:solidFill>
                <a:latin typeface="Arial"/>
                <a:ea typeface="Arial"/>
                <a:cs typeface="Arial"/>
              </a:rPr>
              <a:t>Validation-ID  29.226 dB • 0.7766 • 0.2714</a:t>
            </a:r>
          </a:p>
          <a:p xmlns:a="http://schemas.openxmlformats.org/drawingml/2006/main">
            <a:pPr marL="20" indent="-13">
              <a:spcAft>
                <a:spcPts val="14"/>
              </a:spcAft>
              <a:buChar char="•"/>
              <a:defRPr sz="1425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32323"/>
                </a:solidFill>
                <a:latin typeface="Arial"/>
                <a:ea typeface="Arial"/>
                <a:cs typeface="Arial"/>
              </a:rPr>
              <a:t>Pseudo-OOD  25.251 dB • 0.6661 • 0.3530</a:t>
            </a:r>
          </a:p>
          <a:p xmlns:a="http://schemas.openxmlformats.org/drawingml/2006/main">
            <a:pPr marL="20" indent="-13">
              <a:spcAft>
                <a:spcPts val="14"/>
              </a:spcAft>
              <a:buChar char="•"/>
              <a:defRPr sz="1425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32323"/>
                </a:solidFill>
                <a:latin typeface="Arial"/>
                <a:ea typeface="Arial"/>
                <a:cs typeface="Arial"/>
              </a:rPr>
              <a:t>Bicubic gain  +5.43 dB ID</a:t>
            </a:r>
          </a:p>
          <a:p xmlns:a="http://schemas.openxmlformats.org/drawingml/2006/main">
            <a:pPr marL="20" indent="-13">
              <a:buChar char="•"/>
              <a:defRPr sz="1425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32323"/>
                </a:solidFill>
                <a:latin typeface="Arial"/>
                <a:ea typeface="Arial"/>
                <a:cs typeface="Arial"/>
              </a:rPr>
              <a:t>Bicubic gain  +5.02 dB OOD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064BB4-E0F7-455D-A6F6-E505F6E3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743450"/>
            <a:ext cx="2381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E07780-74ED-4F59-A755-DABC7A18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9244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Cold external check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EED2E5-9E37-4E52-96FD-5E7E3B27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3149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2323"/>
                </a:solidFill>
                <a:latin typeface="Arial"/>
                <a:ea typeface="Arial"/>
                <a:cs typeface="Arial"/>
              </a:rPr>
              <a:t>Noise profiles: +8.16 / +4.10 dB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2323"/>
                </a:solidFill>
                <a:latin typeface="Arial"/>
                <a:ea typeface="Arial"/>
                <a:cs typeface="Arial"/>
              </a:rPr>
              <a:t>Clean-only: −2.18 dB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FDA613-EC1A-40EC-880B-2D65488C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PSNR / SSIM / LPIPS-Alex↓. Worst pseudo-OOD cases show no checkerboards or ringing; main risk is fine-texture smoothing.</a:t>
            </a:r>
          </a:p>
        </p:txBody>
      </p:sp>
    </p:spTree>
    <p:extLst>
      <p:ext uri="{BB962C8B-B14F-4D97-AF65-F5344CB8AC3E}">
        <p14:creationId xmlns:p14="http://schemas.microsoft.com/office/powerpoint/2010/main" val="11843471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0C0794-8BCC-490C-A047-F7307CE3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TECHNOLOGY &amp; FEASIBILITY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06277-D140-42FB-A3E4-B6728BBE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A100-tested, compact, and clean-clone verified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F6989-FD46-403A-902C-36EC6AD0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95400"/>
            <a:ext cx="112014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067FF-47EB-4583-8D68-1706D3C9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15441-3607-43E9-896A-14C3155D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3371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A8A74-7504-44E9-87BE-5B370BD0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E2134-0B5A-4734-BCE3-B57FFD81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9.11M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9CD02-320C-410A-9556-2B1C4519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parameters • 34.87 MiB checkpoint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BF944-7A89-430F-9F10-1C55B984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676400"/>
            <a:ext cx="3371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CAD4E-5309-4C35-A6C4-DC33B36B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6764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13CF7-3E1F-49FF-AB50-E0ADD943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8669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1.890 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38A6AA-1C8B-427E-B94D-479B6F3B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543175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A100 compiled FP32 • batch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B1A755-B4E3-4F28-88A7-5DDAFC77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76400"/>
            <a:ext cx="3371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6E0041-5AB8-4AC2-A14D-FEADEEE6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764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CE9648-5DE0-425A-BC08-FD738381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1,958 img/s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9B8424-FBC8-4B80-8CCA-E6DAF572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43175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A100 compiled FP16 • batch 16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F4EFF7-7B8C-4C5A-B5E2-2DC9682E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Eager FP32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271A5B-5A77-4D2C-B5EC-A4E0DD8A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243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Eager FP32 avoids a 20–23 s compile: 14.871 ms batch 1 and 542.61 images/s batch 16 on A100.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A34C98-559E-4207-86D2-547473BD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86150"/>
            <a:ext cx="573405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CE2D58-F38E-4813-9DE7-B19D0EA0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Package gates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13EDC8-C1B1-45BA-BC0D-6F4F5C2A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10050"/>
            <a:ext cx="520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400/400 outputs  •  52 tests  •  complete A100 pip freeze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BCC1AA-11DF-40B4-A06E-F412AAEF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57725"/>
            <a:ext cx="520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0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Fresh public clone passed checkpoint hash, output count/path/shape/dtype/range checks, default evaluator smoke, and notebook validation.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0F5754-D9F6-469B-B7EE-5358269D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05450"/>
            <a:ext cx="11201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EC485F-7536-46FC-8FB4-63522AB5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0706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git clone  →  pip install  →  python evaluation.py INPUT_DIR OUTPUT_DIR  →  verify_submission.py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D263D9-988C-4B55-800A-1AA67593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Model-only synchronized A100 timing excludes checkpoint loading and file I/O; final H100 timing belongs to KLA.</a:t>
            </a:r>
          </a:p>
        </p:txBody>
      </p:sp>
    </p:spTree>
    <p:extLst>
      <p:ext uri="{BB962C8B-B14F-4D97-AF65-F5344CB8AC3E}">
        <p14:creationId xmlns:p14="http://schemas.microsoft.com/office/powerpoint/2010/main" val="13912139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522B8D-E546-4A01-9DFB-590BC734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0C527-20E2-47FD-90D2-985F7CCA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GITHUB &amp; REPRODUCIBILITY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84D15-9BD5-4921-A59D-57B6E610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59055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Clone.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Run.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Verify.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B96FD0-984A-4FA5-939E-6AA0CAE0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6C36C-1FBE-4F45-AD14-CE962329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6230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32323"/>
                </a:solidFill>
                <a:latin typeface="Arial"/>
                <a:ea typeface="Arial"/>
                <a:cs typeface="Arial"/>
              </a:rPr>
              <a:t>Clone the public repository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DD141-A58C-4BA0-8FEC-3BF82E25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05200"/>
            <a:ext cx="55435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D7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0AAEF-E135-4B32-A8EF-E2E26A88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861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7A0B1-F060-4EAA-AF90-9160F389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86175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32323"/>
                </a:solidFill>
                <a:latin typeface="Arial"/>
                <a:ea typeface="Arial"/>
                <a:cs typeface="Arial"/>
              </a:rPr>
              <a:t>Install requirements-runtime.txt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8D575-9443-471A-B330-63E5BA7C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29075"/>
            <a:ext cx="55435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D7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453324-D649-4CAB-A69D-C0AA6820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CA809-CAB5-4AA2-B8A9-D6E9692B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1005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32323"/>
                </a:solidFill>
                <a:latin typeface="Arial"/>
                <a:ea typeface="Arial"/>
                <a:cs typeface="Arial"/>
              </a:rPr>
              <a:t>Run evaluation.py INPUT_DIR OUTPUT_DIR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BA190-ABFE-41C9-AFCD-92986999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55435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D7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167225-400D-4F45-97AB-5F570CF2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27A2D0-E869-4830-BB99-D5EA9543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33925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32323"/>
                </a:solidFill>
                <a:latin typeface="Arial"/>
                <a:ea typeface="Arial"/>
                <a:cs typeface="Arial"/>
              </a:rPr>
              <a:t>Verify all 400 restored arrays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C62B41-3E2E-4793-81F9-F7912D60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76825"/>
            <a:ext cx="55435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D7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2B9D82-7819-44EB-ADAA-8047A14A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28C3C-2A7D-4BD4-913D-E8D83732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5780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32323"/>
                </a:solidFill>
                <a:latin typeface="Arial"/>
                <a:ea typeface="Arial"/>
                <a:cs typeface="Arial"/>
              </a:rPr>
              <a:t>Optional Colab training walkthrough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950900-5AF5-4715-A7DC-334B50A2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55435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D7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0EC8EE-E17C-482B-870F-38598EE4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857250"/>
            <a:ext cx="4324350" cy="4514850"/>
          </a:xfrm>
          <a:prstGeom xmlns:a="http://schemas.openxmlformats.org/drawingml/2006/main" prst="roundRect">
            <a:avLst>
              <a:gd name="adj" fmla="val 2643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68749F-CF73-4D56-AC83-FA9388AF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573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Public repository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51BADB-28D7-4586-9CCC-55DD48F8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90700"/>
            <a:ext cx="352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github.com/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FaisalTabrez/Semicon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5BAB13-A9F8-4B05-801C-9D00744D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71800"/>
            <a:ext cx="3143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D51806-6D5D-44C9-8649-789A9E9F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95650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2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CE9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CE9F8"/>
                </a:solidFill>
                <a:latin typeface="Arial"/>
                <a:ea typeface="Arial"/>
                <a:cs typeface="Arial"/>
              </a:rPr>
              <a:t>Final model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DCE9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CE9F8"/>
                </a:solidFill>
                <a:latin typeface="Arial"/>
                <a:ea typeface="Arial"/>
                <a:cs typeface="Arial"/>
              </a:rPr>
              <a:t>conditioned_naf_sr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DCE9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CE9F8"/>
                </a:solidFill>
                <a:latin typeface="Arial"/>
                <a:ea typeface="Arial"/>
                <a:cs typeface="Arial"/>
              </a:rPr>
              <a:t>Checkpoint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DCE9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CE9F8"/>
                </a:solidFill>
                <a:latin typeface="Arial"/>
                <a:ea typeface="Arial"/>
                <a:cs typeface="Arial"/>
              </a:rPr>
              <a:t>273abd9d…158c28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DCE9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CE9F8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DCE9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CE9F8"/>
                </a:solidFill>
                <a:latin typeface="Arial"/>
                <a:ea typeface="Arial"/>
                <a:cs typeface="Arial"/>
              </a:rPr>
              <a:t>Public code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DCE9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CE9F8"/>
                </a:solidFill>
                <a:latin typeface="Arial"/>
                <a:ea typeface="Arial"/>
                <a:cs typeface="Arial"/>
              </a:rPr>
              <a:t>and weights included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D8D839-C083-4014-A15E-BA643165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863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Ready for judge-side execution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56A1F0-DB07-47E4-A524-F1DE2CC2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Standalone evaluator • frozen weights • 400 outputs • complete A100 freeze • reproducible Python and Colab training</a:t>
            </a:r>
          </a:p>
        </p:txBody>
      </p:sp>
    </p:spTree>
    <p:extLst>
      <p:ext uri="{BB962C8B-B14F-4D97-AF65-F5344CB8AC3E}">
        <p14:creationId xmlns:p14="http://schemas.microsoft.com/office/powerpoint/2010/main" val="7276931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3193EC-4D0C-43E2-9AC5-E9A6221D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DCD90-E524-45CD-947F-1572A4BF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Every claim is traceable to code, data, or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BFE33-E749-4DA8-809A-D658F054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95400"/>
            <a:ext cx="112014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B6265-F230-4B49-A0D3-BCAE96AC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CE859-6351-40A1-BCEC-8960AC3D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53340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18D62-06A2-4678-976B-07076F00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537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Restoration networks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39D9A-1C5B-4596-84B0-F2424ED2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NAFNet — Chen et al., ECCV 2022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EDSR — Lim et al., CVPRW 2017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0FB0C-C755-494C-95E1-E9405012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Quality metrics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9B68F-E66B-4637-9728-28740800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81425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LPIPS — Zhang et al., CVPR 2018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SSIM — Wang et al., IEEE TIP 2004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A5A4E-D3DC-4D1A-8562-2C60B63A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4267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D7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36F9ED-3FE8-433E-A605-E9125A5B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2323"/>
                </a:solidFill>
                <a:latin typeface="Arial"/>
                <a:ea typeface="Arial"/>
                <a:cs typeface="Arial"/>
              </a:rPr>
              <a:t>Architectures and metrics were selected for restoration fidelity—not defect classification.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46E2E-89C9-4413-B440-79E0FB0A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430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Data &amp; implementation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39E6D-98A7-44C5-8C32-2C621ABD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00300"/>
            <a:ext cx="5048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4">
              <a:spcAft>
                <a:spcPts val="16"/>
              </a:spcAft>
              <a:buChar char="•"/>
              <a:defRPr sz="1575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32323"/>
                </a:solidFill>
                <a:latin typeface="Arial"/>
                <a:ea typeface="Arial"/>
                <a:cs typeface="Arial"/>
              </a:rPr>
              <a:t>i4C / KLA AI restoration challenge statement (2026)</a:t>
            </a:r>
          </a:p>
          <a:p xmlns:a="http://schemas.openxmlformats.org/drawingml/2006/main">
            <a:pPr marL="22" indent="-14">
              <a:spcAft>
                <a:spcPts val="16"/>
              </a:spcAft>
              <a:buChar char="•"/>
              <a:defRPr sz="1575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32323"/>
                </a:solidFill>
                <a:latin typeface="Arial"/>
                <a:ea typeface="Arial"/>
                <a:cs typeface="Arial"/>
              </a:rPr>
              <a:t>KLA paired organizer dataset: 3,200 training samples</a:t>
            </a:r>
          </a:p>
          <a:p xmlns:a="http://schemas.openxmlformats.org/drawingml/2006/main">
            <a:pPr marL="22" indent="-14">
              <a:spcAft>
                <a:spcPts val="16"/>
              </a:spcAft>
              <a:buChar char="•"/>
              <a:defRPr sz="1575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32323"/>
                </a:solidFill>
                <a:latin typeface="Arial"/>
                <a:ea typeface="Arial"/>
                <a:cs typeface="Arial"/>
              </a:rPr>
              <a:t>Carinthia SEM Defect Dataset, Zenodo 10715190</a:t>
            </a:r>
          </a:p>
          <a:p xmlns:a="http://schemas.openxmlformats.org/drawingml/2006/main">
            <a:pPr marL="22" indent="-14">
              <a:spcAft>
                <a:spcPts val="16"/>
              </a:spcAft>
              <a:buChar char="•"/>
              <a:defRPr sz="1575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32323"/>
                </a:solidFill>
                <a:latin typeface="Arial"/>
                <a:ea typeface="Arial"/>
                <a:cs typeface="Arial"/>
              </a:rPr>
              <a:t>PyTorch 2.11, scikit-image and LPIPS</a:t>
            </a:r>
          </a:p>
          <a:p xmlns:a="http://schemas.openxmlformats.org/drawingml/2006/main">
            <a:pPr marL="22" indent="-14">
              <a:buChar char="•"/>
              <a:defRPr sz="1575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32323"/>
                </a:solidFill>
                <a:latin typeface="Arial"/>
                <a:ea typeface="Arial"/>
                <a:cs typeface="Arial"/>
              </a:rPr>
              <a:t>Public code, model card and evidence reports in GitHub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03CA19-9CC7-4C13-B246-03CB0C7B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57800"/>
            <a:ext cx="4953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AE9AC0-5784-41A0-922A-0A09E5C4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38775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3D8DFF"/>
                </a:solidFill>
                <a:latin typeface="Consolas"/>
                <a:ea typeface="Consolas"/>
                <a:cs typeface="Consolas"/>
              </a:rPr>
              <a:t>doi.org/10.5281/zenodo.10715190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6FC418-5866-406F-B615-C99E8B18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Full URLs and per-slide claim sources are recorded in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16500853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2026-08-15T15:30:37.9180000Z</dcterms:created>
  <dcterms:modified xsi:type="dcterms:W3CDTF">2026-08-15T15:30:37.9180000Z</dcterms:modified>
</coreProperties>
</file>