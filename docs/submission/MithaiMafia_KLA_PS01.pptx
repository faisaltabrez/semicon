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676ca00e324732" /><Relationship Type="http://schemas.openxmlformats.org/officeDocument/2006/relationships/extended-properties" Target="/docProps/app.xml" Id="Rdf3dccba3fff4ba5" /><Relationship Type="http://schemas.openxmlformats.org/officeDocument/2006/relationships/officeDocument" Target="/ppt/presentation.xml" Id="R07c42b2f307343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bb31ab786d4d1c"/>
  </p:sldMasterIdLst>
  <p:notesMasterIdLst>
    <p:notesMasterId xmlns:r="http://schemas.openxmlformats.org/officeDocument/2006/relationships" r:id="Re3bd5138feba405d"/>
  </p:notesMasterIdLst>
  <p:sldIdLst>
    <p:sldId xmlns:r="http://schemas.openxmlformats.org/officeDocument/2006/relationships" id="256" r:id="R7bc4f5d23dfc4bfe"/>
    <p:sldId xmlns:r="http://schemas.openxmlformats.org/officeDocument/2006/relationships" id="257" r:id="Rdf1999d736a54846"/>
    <p:sldId xmlns:r="http://schemas.openxmlformats.org/officeDocument/2006/relationships" id="258" r:id="R0b8df3c0d2684c2d"/>
    <p:sldId xmlns:r="http://schemas.openxmlformats.org/officeDocument/2006/relationships" id="259" r:id="R6a359f0543e845f1"/>
    <p:sldId xmlns:r="http://schemas.openxmlformats.org/officeDocument/2006/relationships" id="260" r:id="Rb4dc2cf0e7114e7d"/>
    <p:sldId xmlns:r="http://schemas.openxmlformats.org/officeDocument/2006/relationships" id="261" r:id="R926b3a94d39643ea"/>
    <p:sldId xmlns:r="http://schemas.openxmlformats.org/officeDocument/2006/relationships" id="262" r:id="Rf0a6bf3742cd4138"/>
    <p:sldId xmlns:r="http://schemas.openxmlformats.org/officeDocument/2006/relationships" id="263" r:id="R25d1a9b49e184004"/>
    <p:sldId xmlns:r="http://schemas.openxmlformats.org/officeDocument/2006/relationships" id="264" r:id="Rd74c72c5bdcd4a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830b51529d4f21" /><Relationship Type="http://schemas.openxmlformats.org/officeDocument/2006/relationships/slideMaster" Target="/ppt/slideMasters/slideMaster1.xml" Id="Rc8bb31ab786d4d1c" /><Relationship Type="http://schemas.openxmlformats.org/officeDocument/2006/relationships/notesMaster" Target="/ppt/notesMasters/notesMaster1.xml" Id="Re3bd5138feba405d" /><Relationship Type="http://schemas.openxmlformats.org/officeDocument/2006/relationships/presProps" Target="/ppt/presProps.xml" Id="Rd09b5fe6b77f4bef" /><Relationship Type="http://schemas.openxmlformats.org/officeDocument/2006/relationships/tableStyles" Target="/ppt/tableStyles.xml" Id="R699ff22d70344ce6" /><Relationship Type="http://schemas.openxmlformats.org/officeDocument/2006/relationships/slide" Target="/ppt/slides/slide1.xml" Id="R7bc4f5d23dfc4bfe" /><Relationship Type="http://schemas.openxmlformats.org/officeDocument/2006/relationships/slide" Target="/ppt/slides/slide2.xml" Id="Rdf1999d736a54846" /><Relationship Type="http://schemas.openxmlformats.org/officeDocument/2006/relationships/slide" Target="/ppt/slides/slide3.xml" Id="R0b8df3c0d2684c2d" /><Relationship Type="http://schemas.openxmlformats.org/officeDocument/2006/relationships/slide" Target="/ppt/slides/slide4.xml" Id="R6a359f0543e845f1" /><Relationship Type="http://schemas.openxmlformats.org/officeDocument/2006/relationships/slide" Target="/ppt/slides/slide5.xml" Id="Rb4dc2cf0e7114e7d" /><Relationship Type="http://schemas.openxmlformats.org/officeDocument/2006/relationships/slide" Target="/ppt/slides/slide6.xml" Id="R926b3a94d39643ea" /><Relationship Type="http://schemas.openxmlformats.org/officeDocument/2006/relationships/slide" Target="/ppt/slides/slide7.xml" Id="Rf0a6bf3742cd4138" /><Relationship Type="http://schemas.openxmlformats.org/officeDocument/2006/relationships/slide" Target="/ppt/slides/slide8.xml" Id="R25d1a9b49e184004" /><Relationship Type="http://schemas.openxmlformats.org/officeDocument/2006/relationships/slide" Target="/ppt/slides/slide9.xml" Id="Rd74c72c5bdcd4a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9ba5ee004f4f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1908737daf404c" /><Relationship Type="http://schemas.openxmlformats.org/officeDocument/2006/relationships/notesMaster" Target="/ppt/notesMasters/notesMaster1.xml" Id="R271715538dd54f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7f4cc3ac345ed" /><Relationship Type="http://schemas.openxmlformats.org/officeDocument/2006/relationships/notesMaster" Target="/ppt/notesMasters/notesMaster1.xml" Id="R62edc2dc886641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403db475f6431c" /><Relationship Type="http://schemas.openxmlformats.org/officeDocument/2006/relationships/notesMaster" Target="/ppt/notesMasters/notesMaster1.xml" Id="R0e143259890243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3c5e6626e418f" /><Relationship Type="http://schemas.openxmlformats.org/officeDocument/2006/relationships/notesMaster" Target="/ppt/notesMasters/notesMaster1.xml" Id="Rc2a280327a184c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5350aa741647a9" /><Relationship Type="http://schemas.openxmlformats.org/officeDocument/2006/relationships/notesMaster" Target="/ppt/notesMasters/notesMaster1.xml" Id="Re3318762f97240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2aadb4f2b64318" /><Relationship Type="http://schemas.openxmlformats.org/officeDocument/2006/relationships/notesMaster" Target="/ppt/notesMasters/notesMaster1.xml" Id="Rca0a7996310348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127ce658214b1a" /><Relationship Type="http://schemas.openxmlformats.org/officeDocument/2006/relationships/notesMaster" Target="/ppt/notesMasters/notesMaster1.xml" Id="R66e5a62496f04c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30508318484d20" /><Relationship Type="http://schemas.openxmlformats.org/officeDocument/2006/relationships/notesMaster" Target="/ppt/notesMasters/notesMaster1.xml" Id="Ra13183e6406848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0c340896324a40" /><Relationship Type="http://schemas.openxmlformats.org/officeDocument/2006/relationships/notesMaster" Target="/ppt/notesMasters/notesMaster1.xml" Id="R0a803fc131db4c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https://i4c.in/hackathon-2026/</a:t>
            </a:r>
          </a:p>
          <a:p xmlns:a="http://schemas.openxmlformats.org/drawingml/2006/main">
            <a:r>
              <a:t>- https://github.com/FaisalTabrez/Semicon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https://i4c.in/hackathon-2026/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https://arxiv.org/abs/2204.04676</a:t>
            </a:r>
          </a:p>
          <a:p xmlns:a="http://schemas.openxmlformats.org/drawingml/2006/main">
            <a:r>
              <a:t>- https://github.com/FaisalTabrez/Semicon/blob/main/configs/final_conditioned.yaml</a:t>
            </a:r>
          </a:p>
          <a:p xmlns:a="http://schemas.openxmlformats.org/drawingml/2006/main">
            <a:r>
              <a:t>- https://github.com/FaisalTabrez/Semicon/blob/main/src/semirestore/models/naf_sr.py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https://arxiv.org/abs/2204.04676</a:t>
            </a:r>
          </a:p>
          <a:p xmlns:a="http://schemas.openxmlformats.org/drawingml/2006/main">
            <a:r>
              <a:t>- https://github.com/FaisalTabrez/Semicon/blob/main/configs/final_conditioned.yaml</a:t>
            </a:r>
          </a:p>
          <a:p xmlns:a="http://schemas.openxmlformats.org/drawingml/2006/main">
            <a:r>
              <a:t>- https://github.com/FaisalTabrez/Semicon/blob/main/train.py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https://github.com/FaisalTabrez/Semicon/blob/main/README.md</a:t>
            </a:r>
          </a:p>
          <a:p xmlns:a="http://schemas.openxmlformats.org/drawingml/2006/main">
            <a:r>
              <a:t>- https://github.com/FaisalTabrez/Semicon/blob/main/reports/student32_ablation.md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https://github.com/FaisalTabrez/Semicon/blob/main/reports/conditioned_fp32_val_id_summary.json</a:t>
            </a:r>
          </a:p>
          <a:p xmlns:a="http://schemas.openxmlformats.org/drawingml/2006/main">
            <a:r>
              <a:t>- https://github.com/FaisalTabrez/Semicon/blob/main/reports/conditioned_fp32_val_ood_summary.json</a:t>
            </a:r>
          </a:p>
          <a:p xmlns:a="http://schemas.openxmlformats.org/drawingml/2006/main">
            <a:r>
              <a:t>- https://github.com/FaisalTabrez/Semicon/blob/main/reports/external_carinthia_evidence.md</a:t>
            </a:r>
          </a:p>
          <a:p xmlns:a="http://schemas.openxmlformats.org/drawingml/2006/main">
            <a:r>
              <a:t>- https://doi.org/10.5281/zenodo.10715190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https://github.com/FaisalTabrez/Semicon/blob/main/README.md</a:t>
            </a:r>
          </a:p>
          <a:p xmlns:a="http://schemas.openxmlformats.org/drawingml/2006/main">
            <a:r>
              <a:t>- https://github.com/FaisalTabrez/Semicon/blob/main/weights/MODEL_CARD.md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https://github.com/FaisalTabrez/Semicon</a:t>
            </a:r>
          </a:p>
          <a:p xmlns:a="http://schemas.openxmlformats.org/drawingml/2006/main">
            <a:r>
              <a:t>- https://i4c.in/hackathon-2026/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https://i4c.in/hackathon-2026/</a:t>
            </a:r>
          </a:p>
          <a:p xmlns:a="http://schemas.openxmlformats.org/drawingml/2006/main">
            <a:r>
              <a:t>- https://arxiv.org/abs/2204.04676</a:t>
            </a:r>
          </a:p>
          <a:p xmlns:a="http://schemas.openxmlformats.org/drawingml/2006/main">
            <a:r>
              <a:t>- https://arxiv.org/abs/1707.02921</a:t>
            </a:r>
          </a:p>
          <a:p xmlns:a="http://schemas.openxmlformats.org/drawingml/2006/main">
            <a:r>
              <a:t>- https://arxiv.org/abs/1801.03924</a:t>
            </a:r>
          </a:p>
          <a:p xmlns:a="http://schemas.openxmlformats.org/drawingml/2006/main">
            <a:r>
              <a:t>- https://doi.org/10.1109/TIP.2003.819861</a:t>
            </a:r>
          </a:p>
          <a:p xmlns:a="http://schemas.openxmlformats.org/drawingml/2006/main">
            <a:r>
              <a:t>- https://doi.org/10.5281/zenodo.10715190</a:t>
            </a:r>
          </a:p>
          <a:p xmlns:a="http://schemas.openxmlformats.org/drawingml/2006/main">
            <a:r>
              <a:t>- https://github.com/FaisalTabrez/Semicon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df5515c514a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d264754be42be" /><Relationship Type="http://schemas.openxmlformats.org/officeDocument/2006/relationships/slideLayout" Target="/ppt/slideLayouts/slideLayout1.xml" Id="Rf73bc235351840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3bc235351840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0e7ce39b64834" /><Relationship Type="http://schemas.openxmlformats.org/officeDocument/2006/relationships/notesSlide" Target="/ppt/notesSlides/notesSlide1.xml" Id="R8762909d9c124b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945f8d54a42d5" /><Relationship Type="http://schemas.openxmlformats.org/officeDocument/2006/relationships/notesSlide" Target="/ppt/notesSlides/notesSlide2.xml" Id="R38a8006e04cc4f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78462db90487b" /><Relationship Type="http://schemas.openxmlformats.org/officeDocument/2006/relationships/notesSlide" Target="/ppt/notesSlides/notesSlide3.xml" Id="R9ac563329cbc4a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70e27903041d7" /><Relationship Type="http://schemas.openxmlformats.org/officeDocument/2006/relationships/notesSlide" Target="/ppt/notesSlides/notesSlide4.xml" Id="R13742b2df6f44e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ffbbf996643f6" /><Relationship Type="http://schemas.openxmlformats.org/officeDocument/2006/relationships/notesSlide" Target="/ppt/notesSlides/notesSlide5.xml" Id="R2714fa442faf4e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085140c4e4029" /><Relationship Type="http://schemas.openxmlformats.org/officeDocument/2006/relationships/image" Target="/ppt/media/image.png" Id="R5db55585feb84452" /><Relationship Type="http://schemas.openxmlformats.org/officeDocument/2006/relationships/notesSlide" Target="/ppt/notesSlides/notesSlide6.xml" Id="R72357e22bb36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b2655f53a454b" /><Relationship Type="http://schemas.openxmlformats.org/officeDocument/2006/relationships/notesSlide" Target="/ppt/notesSlides/notesSlide7.xml" Id="Rb107c70a70d74c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9ce35a59f47d3" /><Relationship Type="http://schemas.openxmlformats.org/officeDocument/2006/relationships/notesSlide" Target="/ppt/notesSlides/notesSlide8.xml" Id="R22dd1d57d4a143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d089654d843f2" /><Relationship Type="http://schemas.openxmlformats.org/officeDocument/2006/relationships/notesSlide" Target="/ppt/notesSlides/notesSlide9.xml" Id="R4c77bd0434a545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7CB59-D8E6-4308-A0FD-F0B54F62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C2977-27C3-4902-AAB8-6AB3DD09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KLA PS01  /  SEMICON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534E9-996E-476F-8973-EC3F0791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Mithai Mafia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6A264-B121-408F-BE6C-CAAB1E5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7477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SemiRestore: AI restoration of degraded images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for semiconductor inspection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229A6-D3AC-4752-B0CF-0152AF15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914400"/>
            <a:ext cx="2628900" cy="4000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55842-AD0C-48AE-9B48-E2839B8D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95400"/>
            <a:ext cx="190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63747-30ED-4C46-99EA-36787BE0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52650"/>
            <a:ext cx="190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grayscale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69D36-BC3D-4C4A-BE37-3B7C957D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16383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83D1F-FAA4-42A3-9D45-2C39D3AB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04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Akhilesh Kancharla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Team Leader • 3rd Year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Md. Faisal Tabrez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Team Member • 3rd Year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68F43-B7A4-4B4A-82AE-FB08384C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Mahatma Gandhi Institute of Technology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B2E6A-AF70-4BD5-8B43-232CA6C1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Team leader contact  •  8688812245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875F2-2F6A-43A4-88C4-F136A287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91250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github.com/FaisalTabrez/Semicon</a:t>
            </a:r>
          </a:p>
        </p:txBody>
      </p:sp>
    </p:spTree>
    <p:extLst>
      <p:ext uri="{BB962C8B-B14F-4D97-AF65-F5344CB8AC3E}">
        <p14:creationId xmlns:p14="http://schemas.microsoft.com/office/powerpoint/2010/main" val="1809147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193EC-4D0C-43E2-9AC5-E9A6221D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DCD90-E524-45CD-947F-1572A4B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Degradation can hide defects before inspection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BFE33-E749-4DA8-809A-D658F05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B6265-F230-4B49-A0D3-BCAE96AC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CE859-6351-40A1-BCEC-8960AC3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3340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18D62-06A2-4678-976B-07076F00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Observed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9D9A-1C5B-4596-84B0-F2424ED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128×128 or 256×256 grayscale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speckle + Gaussian noise; raw range may exceed [0,1]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FB0C-C755-494C-95E1-E9405012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Required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9B68F-E66B-4637-9728-2874080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2× restored float32 image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sharp structure, low noise, no artificial patterns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A5A4E-D3DC-4D1A-8562-2C60B63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267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6F9ED-3FE8-433E-A605-E9125A5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Inspection depends on fine edges and texture; smoothing can conceal the same evidence that restoration is meant to recover.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46E2E-89C9-4413-B440-79E0FB0A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430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What the solution must achieve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39E6D-98A7-44C5-8C32-2C621ABD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5048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Remove speckle without clipping valid extremes.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Reduce Gaussian noise without blurring boundaries.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Recover 2× spatial resolution in one model.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Generalize to unseen semiconductor sources.</a:t>
            </a:r>
          </a:p>
          <a:p xmlns:a="http://schemas.openxmlformats.org/drawingml/2006/main">
            <a:pPr marL="22" indent="-14"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Run fast enough for practical inspection workflows.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3CA19-9CC7-4C13-B246-03CB0C7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5780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E9AC0-5784-41A0-922A-0A09E5C4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38775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noise removal  +  2× super-resolution  +  OOD robustness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FC418-5866-406F-B615-C99E8B18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Problem source: i4C / KLA AI-Based Restoration challenge statement.</a:t>
            </a:r>
          </a:p>
        </p:txBody>
      </p:sp>
    </p:spTree>
    <p:extLst>
      <p:ext uri="{BB962C8B-B14F-4D97-AF65-F5344CB8AC3E}">
        <p14:creationId xmlns:p14="http://schemas.microsoft.com/office/powerpoint/2010/main" val="1650085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59CF8-8AC3-408D-A39D-1C1765DD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IDEA DESCRIPTION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F92C1-2E0E-4C22-A81C-1F3155E1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model adapts to every degradation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1029B-0B93-46EF-B59C-7B17821E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80803-3957-4CF8-9DEC-9D110120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1BFC8-D40C-4857-AD14-18EB9265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5505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2D39F-155F-404C-A5CA-1B55573D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465CA-A29E-46BC-B9D9-1C1A9A62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joint restoration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24A83-F14C-4C3E-84A2-85E31B9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A single NAF-SR predicts a clean 2× residual instead of chaining separate denoising and upscaling models.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2C9258-E19F-4C2A-9713-D3AF5CFF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505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28C69-7B4E-4ED4-8890-F3CA2281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621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 stats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F5FDA-359B-4CFE-B3A0-60A2585D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image-conditioned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A128B-6834-4D45-803E-5AF451F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Mean, standard deviation, minimum and maximum modulate the network through zero-initialized FiLM.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5E62DE-BD9F-4DA6-A076-569B04A1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5505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6F676-3EF1-40DD-9137-E24E3994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2× skip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58C34-2A9E-44DB-901B-5B42B913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conservative residual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ED5A1-28C4-4BFA-A5E9-6EF7E27F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Bicubic carries stable low-frequency structure; the learned branch focuses on missing detail and noise correction.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07E9C-FE86-4193-9528-227DCE0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55054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FA73B-0A5B-4719-9CF5-7FFF2025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663B5-57A9-4AB9-97A0-031CEBD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public-test labels used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7B31E-3489-4C6C-97AF-C2619751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29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Model selection uses only organizer training pairs, locked validation-ID and texture-held-out pseudo-OOD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0DD26-3382-4A17-850A-DA604F6A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Core principle: adapt restoration strength to the input while keeping the output path auditable.</a:t>
            </a:r>
          </a:p>
        </p:txBody>
      </p:sp>
    </p:spTree>
    <p:extLst>
      <p:ext uri="{BB962C8B-B14F-4D97-AF65-F5344CB8AC3E}">
        <p14:creationId xmlns:p14="http://schemas.microsoft.com/office/powerpoint/2010/main" val="2113913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5365B-F7A3-40CA-AE51-C9B3C5E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153D3-AC4A-4514-806E-4FA58C2A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1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Safe input → conditioned NAF-SR → auditable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96AA5-85A8-47D3-88B8-DDAA124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BD1E8-1CC8-4C91-A354-7C73947D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94950-00A3-45A9-9DA8-042636AA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32575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4A786-C3D1-45F8-B758-B1E76299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885AA-40D0-46F1-A3F8-54128A5D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C50266-CC19-4BBE-BD36-28C39621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4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+ preserve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5B22F-7D41-4127-AD95-B2E2814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1947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Load one-channel NumPy safely, reject invalid values, and preserve real intensity extremes before inference.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36145-0258-42E3-A360-2083C8F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77177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4D798-07CF-4F25-8A69-AB151AD1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38350"/>
            <a:ext cx="3714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08C7-844E-4267-8CB4-C3165772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2FCF6-814E-4E0E-8E2E-34EC4969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57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11ACE-30C1-49D5-9E83-951A73FF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76550"/>
            <a:ext cx="3295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Conditioned NAF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F880A-6F3E-4868-A010-6E4BBFEA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19475"/>
            <a:ext cx="3295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Width 48 encoder–decoder; residual NAF blocks adapt features using global input statistics.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EDC35-6348-4EF5-8115-A9737149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71775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F1FAC-5BE0-4F8C-9D7C-B58D3894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32575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B1F93-A880-4F0D-AF53-8F9586EC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E5349-580C-4618-A4F0-E6031208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57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4A5A3-429A-4E3E-874A-0B8D7FC6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838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Pixel-shuffle restore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266C8-DE0F-4611-A8AC-E3CDFEC8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1947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Predict the high-resolution residual, add the bicubic skip, crop safely, then clamp once to [0,1].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A56DC-1B19-473F-921C-B571D5D1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14850"/>
            <a:ext cx="3714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F3972-AAE1-4314-AAB2-2D3760DA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695825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[mean, std, min, max]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3E47D-13F8-4AA7-9419-238A3361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1339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zero-initialized FiLM conditioning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9FBA0-AC71-43E0-B1DE-2AA320B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9,111,684 parameters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63E96-A7BF-4245-840B-8B3BD207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7690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155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Charbonnier loss • real pairs • D4 geometry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148EF-1487-44EB-9AB4-5D4C5543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Training: 5,000 steps, batch 16, AdamW, warm-up + cosine decay, EMA/raw checkpoint selection.</a:t>
            </a:r>
          </a:p>
        </p:txBody>
      </p:sp>
    </p:spTree>
    <p:extLst>
      <p:ext uri="{BB962C8B-B14F-4D97-AF65-F5344CB8AC3E}">
        <p14:creationId xmlns:p14="http://schemas.microsoft.com/office/powerpoint/2010/main" val="1458598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A31FA-A9BA-496D-99A2-7AA7ADA4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INNOVATION &amp; UNIQUENESS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69360-2F6E-408A-B35B-AB0E6005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9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Only OOD-gated improvements entered the final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76481-BBAC-494D-A6A9-5CD6E69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59A66-7BDF-4E99-81EE-6BD4F12C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904CB-C6B2-4B0F-9965-E8597773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2857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4EF2F-D839-4CFD-A11D-39A816B1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259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A8C6C-6636-4BEE-A8B5-E10C549D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30861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15ACD-5CDE-4C8C-9E15-25621FEE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57375"/>
            <a:ext cx="2819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Isolated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0E7EF-111F-498E-BB89-B2044578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29146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91FB1-5029-4C4B-8C8E-1C6D0E68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Locked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F582C-0DEC-40A3-848B-40C1F862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14500"/>
            <a:ext cx="23431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789A7-D13F-4EC2-A791-B6E3F51C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57375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6AB62-8EEE-48C1-90A5-FB45284D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11201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9599B-7F3D-4646-98A1-580DCA12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Texture-held-out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6A578-E2BD-4F30-84C4-021BA814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7175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12 clusters; entire outlying clusters held 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03092-3514-4214-AAE9-E388906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+5.02 dB vs bicubic on pseudo-OOD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E4895-5CDF-480D-93EE-D8E7DF22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69A4E-45BE-44CC-9978-13DE9A27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11201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9130A-885C-4836-8C40-6D295156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+15% fitted synthetic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FD31B-6874-4FB3-83CC-6C4246E1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0045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train-fitted noise and speckle 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96E51D-046A-484E-B927-263DB809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0 / 3 aggregate OOD metrics improved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5CB4B-8F7D-4412-B2A4-B10681D4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43D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3D3D"/>
                </a:solidFill>
                <a:latin typeface="Arial"/>
                <a:ea typeface="Arial"/>
                <a:cs typeface="Arial"/>
              </a:rPr>
              <a:t>REJECT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A9CCE-721C-460F-B93E-E5C18309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11201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F5E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8B63C-D4CF-4F95-8A95-CD38F32D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+statistics conditioning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5B14D-F392-4021-A044-DFF1F06B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2915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FiLM from mean / std / min / max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2A61D-4213-4D2D-89BF-11705B42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29150"/>
            <a:ext cx="2609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PSNR +0.0071; SSIM +0.00152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2B688-D5FC-480B-B47D-EEA0753A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82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67A5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A5B"/>
                </a:solidFill>
                <a:latin typeface="Arial"/>
                <a:ea typeface="Arial"/>
                <a:cs typeface="Arial"/>
              </a:rPr>
              <a:t>KEEP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74F220-DF37-405C-816B-EAA124DD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The architecture is compact; the novelty is evidence discipline—input statistics control restoration strength, and every change must improve locked OOD evidence without material ID loss.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957A7-1FDD-4A43-87A3-D7D2A658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A 4.11M-parameter distilled student was also rejected: +36.9% batch throughput did not offset quality and batch-1 latency misses.</a:t>
            </a:r>
          </a:p>
        </p:txBody>
      </p:sp>
    </p:spTree>
    <p:extLst>
      <p:ext uri="{BB962C8B-B14F-4D97-AF65-F5344CB8AC3E}">
        <p14:creationId xmlns:p14="http://schemas.microsoft.com/office/powerpoint/2010/main" val="7646772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B8304-5C33-4799-AE05-27096196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58FB0-41EF-4DFA-A19F-F279C3C6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≈5 dB gains survive worst-case visual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2517B-D8C8-47BB-8FC5-7095B23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671CA-BAA5-42B6-B100-1345C690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D2418-E263-4A02-8FFA-BF4F7BA3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8382000" cy="451485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55585feb84452"/>
          <a:stretch xmlns:a="http://schemas.openxmlformats.org/drawingml/2006/main"/>
        </p:blipFill>
        <p:spPr>
          <a:xfrm xmlns:a="http://schemas.openxmlformats.org/drawingml/2006/main">
            <a:off x="1193048" y="1647825"/>
            <a:ext cx="6986505" cy="436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E56C80-9B35-45F5-8D31-432E8088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33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Locked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CB300-8415-41EB-8E75-702B9157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3">
              <a:spcAft>
                <a:spcPts val="14"/>
              </a:spcAft>
              <a:buChar char="•"/>
              <a:defRPr sz="142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32323"/>
                </a:solidFill>
                <a:latin typeface="Arial"/>
                <a:ea typeface="Arial"/>
                <a:cs typeface="Arial"/>
              </a:rPr>
              <a:t>Validation-ID  29.226 dB • 0.7766 • 0.2714</a:t>
            </a:r>
          </a:p>
          <a:p xmlns:a="http://schemas.openxmlformats.org/drawingml/2006/main">
            <a:pPr marL="20" indent="-13">
              <a:spcAft>
                <a:spcPts val="14"/>
              </a:spcAft>
              <a:buChar char="•"/>
              <a:defRPr sz="142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32323"/>
                </a:solidFill>
                <a:latin typeface="Arial"/>
                <a:ea typeface="Arial"/>
                <a:cs typeface="Arial"/>
              </a:rPr>
              <a:t>Pseudo-OOD  25.251 dB • 0.6661 • 0.3530</a:t>
            </a:r>
          </a:p>
          <a:p xmlns:a="http://schemas.openxmlformats.org/drawingml/2006/main">
            <a:pPr marL="20" indent="-13">
              <a:spcAft>
                <a:spcPts val="14"/>
              </a:spcAft>
              <a:buChar char="•"/>
              <a:defRPr sz="142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32323"/>
                </a:solidFill>
                <a:latin typeface="Arial"/>
                <a:ea typeface="Arial"/>
                <a:cs typeface="Arial"/>
              </a:rPr>
              <a:t>Bicubic gain  +5.43 dB ID</a:t>
            </a:r>
          </a:p>
          <a:p xmlns:a="http://schemas.openxmlformats.org/drawingml/2006/main">
            <a:pPr marL="20" indent="-13">
              <a:buChar char="•"/>
              <a:defRPr sz="142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32323"/>
                </a:solidFill>
                <a:latin typeface="Arial"/>
                <a:ea typeface="Arial"/>
                <a:cs typeface="Arial"/>
              </a:rPr>
              <a:t>Bicubic gain  +5.02 dB 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64BB4-E0F7-455D-A6F6-E505F6E3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43450"/>
            <a:ext cx="23812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07780-74ED-4F59-A755-DABC7A18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244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Cold external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ED2E5-9E37-4E52-96FD-5E7E3B27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149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Noise profiles: +8.16 / +4.10 dB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Clean-only: −2.18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FDA613-EC1A-40EC-880B-2D65488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PSNR / SSIM / LPIPS-Alex↓. Worst pseudo-OOD cases show no checkerboards or ringing; main risk is fine-texture smoothing.</a:t>
            </a:r>
          </a:p>
        </p:txBody>
      </p:sp>
    </p:spTree>
    <p:extLst>
      <p:ext uri="{BB962C8B-B14F-4D97-AF65-F5344CB8AC3E}">
        <p14:creationId xmlns:p14="http://schemas.microsoft.com/office/powerpoint/2010/main" val="1184347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C0794-8BCC-490C-A047-F7307CE3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TECHNOLOGY &amp; 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06277-D140-42FB-A3E4-B6728BBE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A100-tested, compact, and clean-clone verified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F6989-FD46-403A-902C-36EC6AD0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067FF-47EB-4583-8D68-1706D3C9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15441-3607-43E9-896A-14C3155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A8A74-7504-44E9-87BE-5B370BD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E2134-0B5A-4734-BCE3-B57FFD81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9.11M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9CD02-320C-410A-9556-2B1C4519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parameters • 34.87 MiB checkpoint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BF944-7A89-430F-9F10-1C55B98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7640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CAD4E-5309-4C35-A6C4-DC33B36B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76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13CF7-3E1F-49FF-AB50-E0ADD943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866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1.890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8A6AA-1C8B-427E-B94D-479B6F3B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4317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A100 compiled FP32 • batch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1A755-B4E3-4F28-88A7-5DDAFC77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33718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E0041-5AB8-4AC2-A14D-FEADEEE6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E9648-5DE0-425A-BC08-FD738381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1,958 img/s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B8424-FBC8-4B80-8CCA-E6DAF572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4317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A100 compiled FP16 • batch 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F4EFF7-7B8C-4C5A-B5E2-2DC9682E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Eager FP32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71A5B-5A77-4D2C-B5EC-A4E0DD8A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Eager FP32 avoids a 20–23 s compile: 14.871 ms batch 1 and 542.61 images/s batch 16 on A100.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34C98-559E-4207-86D2-547473BD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86150"/>
            <a:ext cx="5734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E2D58-F38E-4813-9DE7-B19D0EA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Package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13EDC8-C1B1-45BA-BC0D-6F4F5C2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520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400/400 outputs  •  52 tests  •  complete A100 pip freeze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CC1AA-11DF-40B4-A06E-F412AAEF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577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5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Fresh public clone passed checkpoint hash, output count/path/shape/dtype/range checks, default evaluator smoke, and notebook validation.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F5754-D9F6-469B-B7EE-5358269D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11201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C485F-7536-46FC-8FB4-63522AB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070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clone  →  pip install  →  python evaluation.py INPUT_DIR OUTPUT_DIR  →  verify_submission.py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263D9-988C-4B55-800A-1AA67593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Model-only synchronized A100 timing excludes checkpoint loading and file I/O; final H100 timing belongs to KLA.</a:t>
            </a:r>
          </a:p>
        </p:txBody>
      </p:sp>
    </p:spTree>
    <p:extLst>
      <p:ext uri="{BB962C8B-B14F-4D97-AF65-F5344CB8AC3E}">
        <p14:creationId xmlns:p14="http://schemas.microsoft.com/office/powerpoint/2010/main" val="1391213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522B8D-E546-4A01-9DFB-590BC734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0C527-20E2-47FD-90D2-985F7CCA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GITHUB &amp;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84D15-9BD5-4921-A59D-57B6E610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5905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Clone.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Run.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96FD0-984A-4FA5-939E-6AA0CAE0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6C36C-1FBE-4F45-AD14-CE962329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623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Clone the public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DD141-A58C-4BA0-8FEC-3BF82E25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0AAEF-E135-4B32-A8EF-E2E26A88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7A0B1-F060-4EAA-AF90-9160F389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8617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Install requirements-runtime.txt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8D575-9443-471A-B330-63E5BA7C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53324-D649-4CAB-A69D-C0AA6820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CA809-CAB5-4AA2-B8A9-D6E9692B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1005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Run evaluation.py INPUT_DIR OUTPUT_DIR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BA190-ABFE-41C9-AFCD-92986999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67225-400D-4F45-97AB-5F570CF2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3392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7A2D0-E869-4830-BB99-D5EA9543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33925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Verify all 400 restored arrays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62B41-3E2E-4793-81F9-F7912D6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B9D82-7819-44EB-ADAA-8047A14A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28C3C-2A7D-4BD4-913D-E8D83732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57800"/>
            <a:ext cx="462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Optional Colab training walkthrough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50900-5AF5-4715-A7DC-334B50A2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554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EC8EE-E17C-482B-870F-38598EE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857250"/>
            <a:ext cx="4324350" cy="4514850"/>
          </a:xfrm>
          <a:prstGeom xmlns:a="http://schemas.openxmlformats.org/drawingml/2006/main" prst="roundRect">
            <a:avLst>
              <a:gd name="adj" fmla="val 264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68749F-CF73-4D56-AC83-FA9388AF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57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Public repository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1BADB-28D7-4586-9CCC-55DD48F8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907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github.com/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FaisalTabrez/Semicon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BAB13-A9F8-4B05-801C-9D00744D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3143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51806-6D5D-44C9-8649-789A9E9F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2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Final model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conditioned_naf_sr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Checkpoint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273abd9d…158c28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Public code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DCE9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E9F8"/>
                </a:solidFill>
                <a:latin typeface="Arial"/>
                <a:ea typeface="Arial"/>
                <a:cs typeface="Arial"/>
              </a:rPr>
              <a:t>and weights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8D839-C083-4014-A15E-BA643165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8632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for judge-side 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56A1F0-DB07-47E4-A524-F1DE2CC2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Standalone evaluator • frozen weights • 400 outputs • complete A100 freeze • reproducible Python and Colab training</a:t>
            </a:r>
          </a:p>
        </p:txBody>
      </p:sp>
    </p:spTree>
    <p:extLst>
      <p:ext uri="{BB962C8B-B14F-4D97-AF65-F5344CB8AC3E}">
        <p14:creationId xmlns:p14="http://schemas.microsoft.com/office/powerpoint/2010/main" val="727693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193EC-4D0C-43E2-9AC5-E9A6221D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DCD90-E524-45CD-947F-1572A4BF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claim is traceable to code, data, or literature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BFE33-E749-4DA8-809A-D658F05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95400"/>
            <a:ext cx="112014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B6265-F230-4B49-A0D3-BCAE96AC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CE859-6351-40A1-BCEC-8960AC3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3340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18D62-06A2-4678-976B-07076F00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537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Restoration networks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9D9A-1C5B-4596-84B0-F2424ED2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NAFNet — Chen et al., ECCV 2022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EDSR — Lim et al., CVPRW 2017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FB0C-C755-494C-95E1-E9405012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Quality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9B68F-E66B-4637-9728-2874080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LPIPS — Zhang et al., CVPR 2018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SSIM — Wang et al., IEEE TIP 2004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A5A4E-D3DC-4D1A-8562-2C60B63A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267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6F9ED-3FE8-433E-A605-E9125A5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2323"/>
                </a:solidFill>
                <a:latin typeface="Arial"/>
                <a:ea typeface="Arial"/>
                <a:cs typeface="Arial"/>
              </a:rPr>
              <a:t>Architectures and metrics were selected for restoration fidelity—not defect classification.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46E2E-89C9-4413-B440-79E0FB0A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430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2323"/>
                </a:solidFill>
                <a:latin typeface="Arial"/>
                <a:ea typeface="Arial"/>
                <a:cs typeface="Arial"/>
              </a:rPr>
              <a:t>Data &amp; implementation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39E6D-98A7-44C5-8C32-2C621ABD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5048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i4C / KLA AI restoration challenge statement (2026)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KLA paired organizer dataset: 3,200 training samples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Carinthia SEM Defect Dataset, Zenodo 10715190</a:t>
            </a:r>
          </a:p>
          <a:p xmlns:a="http://schemas.openxmlformats.org/drawingml/2006/main">
            <a:pPr marL="22" indent="-14">
              <a:spcAft>
                <a:spcPts val="16"/>
              </a:spcAft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PyTorch 2.11, scikit-image and LPIPS</a:t>
            </a:r>
          </a:p>
          <a:p xmlns:a="http://schemas.openxmlformats.org/drawingml/2006/main">
            <a:pPr marL="22" indent="-14">
              <a:buChar char="•"/>
              <a:defRPr sz="1575">
                <a:solidFill>
                  <a:srgbClr val="23232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32323"/>
                </a:solidFill>
                <a:latin typeface="Arial"/>
                <a:ea typeface="Arial"/>
                <a:cs typeface="Arial"/>
              </a:rPr>
              <a:t>Public code, model card and evidence reports in 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3CA19-9CC7-4C13-B246-03CB0C7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57800"/>
            <a:ext cx="495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E9AC0-5784-41A0-922A-0A09E5C4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38775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3D8DFF"/>
                </a:solidFill>
                <a:latin typeface="Consolas"/>
                <a:ea typeface="Consolas"/>
                <a:cs typeface="Consolas"/>
              </a:rPr>
              <a:t>doi.org/10.5281/zenodo.10715190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FC418-5866-406F-B615-C99E8B18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6B7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B73"/>
                </a:solidFill>
                <a:latin typeface="Arial"/>
                <a:ea typeface="Arial"/>
                <a:cs typeface="Arial"/>
              </a:rPr>
              <a:t>Full URLs and per-slide claim sources are recorded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650085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2026-08-16T14:25:59.1540000Z</dcterms:created>
  <dcterms:modified xsi:type="dcterms:W3CDTF">2026-08-16T14:25:59.1550000Z</dcterms:modified>
</coreProperties>
</file>